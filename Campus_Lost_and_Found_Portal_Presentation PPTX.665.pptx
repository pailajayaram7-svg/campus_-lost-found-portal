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3" r:id="rId7"/>
    <p:sldId id="264" r:id="rId8"/>
    <p:sldId id="265" r:id="rId9"/>
    <p:sldId id="267" r:id="rId10"/>
    <p:sldId id="268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326880" y="457200"/>
            <a:ext cx="1828800" cy="1828800"/>
          </a:xfrm>
          <a:prstGeom prst="ellipse">
            <a:avLst/>
          </a:prstGeom>
          <a:solidFill>
            <a:srgbClr val="24A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058400" y="1828800"/>
            <a:ext cx="914400" cy="914400"/>
          </a:xfrm>
          <a:prstGeom prst="ellipse">
            <a:avLst/>
          </a:prstGeom>
          <a:solidFill>
            <a:srgbClr val="F4B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595360" y="2834640"/>
            <a:ext cx="1188720" cy="1188720"/>
          </a:xfrm>
          <a:prstGeom prst="ellipse">
            <a:avLst/>
          </a:prstGeom>
          <a:solidFill>
            <a:srgbClr val="39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424160" y="3840480"/>
            <a:ext cx="1371600" cy="1371600"/>
          </a:xfrm>
          <a:prstGeom prst="ellipse">
            <a:avLst/>
          </a:prstGeom>
          <a:solidFill>
            <a:srgbClr val="E46A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955279" y="4663440"/>
            <a:ext cx="640080" cy="640080"/>
          </a:xfrm>
          <a:prstGeom prst="ellipse">
            <a:avLst/>
          </a:prstGeom>
          <a:solidFill>
            <a:srgbClr val="24A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412480" y="1188720"/>
            <a:ext cx="128016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0" y="1399032"/>
            <a:ext cx="128016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800" b="1">
                <a:solidFill>
                  <a:srgbClr val="142B4A"/>
                </a:solidFill>
                <a:latin typeface="Aptos"/>
              </a:rPr>
              <a:t>ID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784080" y="2743200"/>
            <a:ext cx="128016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84080" y="2953512"/>
            <a:ext cx="128016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800" b="1">
                <a:solidFill>
                  <a:srgbClr val="142B4A"/>
                </a:solidFill>
                <a:latin typeface="Aptos"/>
              </a:rPr>
              <a:t>KEY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3931920"/>
            <a:ext cx="128016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20" y="4142232"/>
            <a:ext cx="128016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800" b="1">
                <a:solidFill>
                  <a:srgbClr val="142B4A"/>
                </a:solidFill>
                <a:latin typeface="Aptos"/>
              </a:rPr>
              <a:t>BAG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1600200"/>
            <a:ext cx="6949440" cy="1600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tos"/>
              </a:rPr>
              <a:t>CAMPUS LOST</a:t>
            </a:r>
            <a:br/>
            <a:r>
              <a:rPr sz="3600" b="1">
                <a:solidFill>
                  <a:srgbClr val="FFFFFF"/>
                </a:solidFill>
                <a:latin typeface="Aptos"/>
              </a:rPr>
              <a:t>&amp; FOUND PORTAL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657600"/>
            <a:ext cx="6492240" cy="8686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100" b="0">
                <a:solidFill>
                  <a:srgbClr val="DEE9F4"/>
                </a:solidFill>
                <a:latin typeface="Aptos"/>
              </a:rPr>
              <a:t>A simple digital platform to report, search, and recover lost belongings on campus.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53131F1-2132-AC8A-6664-4BFFF988DD79}"/>
              </a:ext>
            </a:extLst>
          </p:cNvPr>
          <p:cNvSpPr txBox="1"/>
          <p:nvPr/>
        </p:nvSpPr>
        <p:spPr>
          <a:xfrm>
            <a:off x="914400" y="5080000"/>
            <a:ext cx="399295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bg2"/>
                </a:solidFill>
              </a:rPr>
              <a:t>NAME:                                ROLL NUMBER</a:t>
            </a:r>
          </a:p>
          <a:p>
            <a:endParaRPr lang="en-IN" dirty="0">
              <a:solidFill>
                <a:schemeClr val="bg2"/>
              </a:solidFill>
            </a:endParaRPr>
          </a:p>
          <a:p>
            <a:r>
              <a:rPr lang="en-IN" dirty="0">
                <a:solidFill>
                  <a:schemeClr val="bg2"/>
                </a:solidFill>
              </a:rPr>
              <a:t>P.JAYRAM                      25MVCSMR0665</a:t>
            </a:r>
          </a:p>
          <a:p>
            <a:r>
              <a:rPr lang="en-IN" dirty="0">
                <a:solidFill>
                  <a:schemeClr val="bg2"/>
                </a:solidFill>
              </a:rPr>
              <a:t>M.RAHUL                      25MVCSMR0659</a:t>
            </a:r>
          </a:p>
          <a:p>
            <a:r>
              <a:rPr lang="en-IN" dirty="0">
                <a:solidFill>
                  <a:schemeClr val="bg2"/>
                </a:solidFill>
              </a:rPr>
              <a:t>T.ARAVIND                    25MVCSMR0702</a:t>
            </a:r>
          </a:p>
          <a:p>
            <a:r>
              <a:rPr lang="en-IN" dirty="0">
                <a:solidFill>
                  <a:schemeClr val="bg2"/>
                </a:solidFill>
              </a:rPr>
              <a:t>K.BHASKAR                   25MVCSMR0650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900" b="1">
                <a:solidFill>
                  <a:srgbClr val="142B4A"/>
                </a:solidFill>
                <a:latin typeface="Aptos"/>
              </a:rPr>
              <a:t>01  |  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0120"/>
            <a:ext cx="777240" cy="64008"/>
          </a:xfrm>
          <a:prstGeom prst="rect">
            <a:avLst/>
          </a:prstGeom>
          <a:solidFill>
            <a:srgbClr val="24A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000" b="1">
                <a:solidFill>
                  <a:srgbClr val="5F6E80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698480" cy="7772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300" b="0">
                <a:solidFill>
                  <a:srgbClr val="233041"/>
                </a:solidFill>
                <a:latin typeface="Aptos"/>
              </a:rPr>
              <a:t>The Campus Lost &amp; Found Portal is a web-based system that connects people who lose items with people who find them.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34290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2743200"/>
            <a:ext cx="82296" cy="2286000"/>
          </a:xfrm>
          <a:prstGeom prst="rect">
            <a:avLst/>
          </a:prstGeom>
          <a:solidFill>
            <a:srgbClr val="24A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907792"/>
            <a:ext cx="301752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1">
                <a:solidFill>
                  <a:srgbClr val="142B4A"/>
                </a:solidFill>
                <a:latin typeface="Aptos"/>
              </a:rPr>
              <a:t>Report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429000"/>
            <a:ext cx="3017520" cy="1463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500" b="0">
                <a:solidFill>
                  <a:srgbClr val="233041"/>
                </a:solidFill>
                <a:latin typeface="Aptos"/>
              </a:rPr>
              <a:t>Students and staff can submit lost-item or found-item reports.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743200"/>
            <a:ext cx="34290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2743200"/>
            <a:ext cx="82296" cy="2286000"/>
          </a:xfrm>
          <a:prstGeom prst="rect">
            <a:avLst/>
          </a:prstGeom>
          <a:solidFill>
            <a:srgbClr val="39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7720" y="2907792"/>
            <a:ext cx="301752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1">
                <a:solidFill>
                  <a:srgbClr val="142B4A"/>
                </a:solidFill>
                <a:latin typeface="Aptos"/>
              </a:rPr>
              <a:t>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429000"/>
            <a:ext cx="3017520" cy="1463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500" b="0">
                <a:solidFill>
                  <a:srgbClr val="233041"/>
                </a:solidFill>
                <a:latin typeface="Aptos"/>
              </a:rPr>
              <a:t>Users can browse listings by item name, category, or campus location.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743200"/>
            <a:ext cx="34290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2743200"/>
            <a:ext cx="82296" cy="2286000"/>
          </a:xfrm>
          <a:prstGeom prst="rect">
            <a:avLst/>
          </a:prstGeom>
          <a:solidFill>
            <a:srgbClr val="F4B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75320" y="2907792"/>
            <a:ext cx="301752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1">
                <a:solidFill>
                  <a:srgbClr val="142B4A"/>
                </a:solidFill>
                <a:latin typeface="Aptos"/>
              </a:rPr>
              <a:t>Recover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3429000"/>
            <a:ext cx="3017520" cy="1463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500" b="0">
                <a:solidFill>
                  <a:srgbClr val="233041"/>
                </a:solidFill>
                <a:latin typeface="Aptos"/>
              </a:rPr>
              <a:t>Users can coordinate a safe return through verified contact channels.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715000"/>
            <a:ext cx="105156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00" b="1">
                <a:solidFill>
                  <a:srgbClr val="142B4A"/>
                </a:solidFill>
                <a:latin typeface="Aptos"/>
              </a:rPr>
              <a:t>Goal: make lost-property recovery faster, clearer, and more organized.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900" b="1">
                <a:solidFill>
                  <a:srgbClr val="142B4A"/>
                </a:solidFill>
                <a:latin typeface="Aptos"/>
              </a:rPr>
              <a:t>02  |  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0120"/>
            <a:ext cx="777240" cy="64008"/>
          </a:xfrm>
          <a:prstGeom prst="rect">
            <a:avLst/>
          </a:prstGeom>
          <a:solidFill>
            <a:srgbClr val="24A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000" b="1">
                <a:solidFill>
                  <a:srgbClr val="5F6E80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6583680" cy="438912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buChar char="•"/>
              <a:defRPr sz="2000">
                <a:solidFill>
                  <a:srgbClr val="233041"/>
                </a:solidFill>
                <a:latin typeface="Aptos"/>
              </a:defRPr>
            </a:pPr>
            <a:r>
              <a:t>Lost items are often reported through informal chats or notice boards.</a:t>
            </a:r>
          </a:p>
          <a:p>
            <a:pPr>
              <a:buChar char="•"/>
              <a:defRPr sz="2000">
                <a:solidFill>
                  <a:srgbClr val="233041"/>
                </a:solidFill>
                <a:latin typeface="Aptos"/>
              </a:defRPr>
            </a:pPr>
            <a:r>
              <a:t>Students may not know where to check for items that have been found.</a:t>
            </a:r>
          </a:p>
          <a:p>
            <a:pPr>
              <a:buChar char="•"/>
              <a:defRPr sz="2000">
                <a:solidFill>
                  <a:srgbClr val="233041"/>
                </a:solidFill>
                <a:latin typeface="Aptos"/>
              </a:defRPr>
            </a:pPr>
            <a:r>
              <a:t>Manual announcements can be slow and difficult to track.</a:t>
            </a:r>
          </a:p>
          <a:p>
            <a:pPr>
              <a:buChar char="•"/>
              <a:defRPr sz="2000">
                <a:solidFill>
                  <a:srgbClr val="233041"/>
                </a:solidFill>
                <a:latin typeface="Aptos"/>
              </a:defRPr>
            </a:pPr>
            <a:r>
              <a:t>There may be no central record of an item’s status or location.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645920"/>
            <a:ext cx="329184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955279" y="1645920"/>
            <a:ext cx="82296" cy="3383280"/>
          </a:xfrm>
          <a:prstGeom prst="rect">
            <a:avLst/>
          </a:prstGeom>
          <a:solidFill>
            <a:srgbClr val="E46A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83879" y="1810512"/>
            <a:ext cx="288036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000" b="1">
                <a:solidFill>
                  <a:srgbClr val="142B4A"/>
                </a:solidFill>
                <a:latin typeface="Aptos"/>
              </a:rPr>
              <a:t>The opportunity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2331720"/>
            <a:ext cx="2880360" cy="2560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700" b="0">
                <a:solidFill>
                  <a:srgbClr val="233041"/>
                </a:solidFill>
                <a:latin typeface="Aptos"/>
              </a:rPr>
              <a:t>One searchable portal can bring reports together and help the campus community return belongings to their owners.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900" b="1">
                <a:solidFill>
                  <a:srgbClr val="142B4A"/>
                </a:solidFill>
                <a:latin typeface="Aptos"/>
              </a:rPr>
              <a:t>04  |  Users &amp; Core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0120"/>
            <a:ext cx="777240" cy="64008"/>
          </a:xfrm>
          <a:prstGeom prst="rect">
            <a:avLst/>
          </a:prstGeom>
          <a:solidFill>
            <a:srgbClr val="24A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000" b="1">
                <a:solidFill>
                  <a:srgbClr val="5F6E80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38328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82296" cy="4206240"/>
          </a:xfrm>
          <a:prstGeom prst="rect">
            <a:avLst/>
          </a:prstGeom>
          <a:solidFill>
            <a:srgbClr val="24A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581912"/>
            <a:ext cx="297180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000" b="1">
                <a:solidFill>
                  <a:srgbClr val="142B4A"/>
                </a:solidFill>
                <a:latin typeface="Aptos"/>
              </a:rPr>
              <a:t>Students &amp; Staff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03120"/>
            <a:ext cx="2971800" cy="338327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700" b="0">
                <a:solidFill>
                  <a:srgbClr val="233041"/>
                </a:solidFill>
                <a:latin typeface="Aptos"/>
              </a:rPr>
              <a:t>• Report a lost item</a:t>
            </a:r>
            <a:br/>
            <a:br/>
            <a:r>
              <a:rPr sz="1700" b="0">
                <a:solidFill>
                  <a:srgbClr val="233041"/>
                </a:solidFill>
                <a:latin typeface="Aptos"/>
              </a:rPr>
              <a:t>• Report a found item</a:t>
            </a:r>
            <a:br/>
            <a:br/>
            <a:r>
              <a:rPr sz="1700" b="0">
                <a:solidFill>
                  <a:srgbClr val="233041"/>
                </a:solidFill>
                <a:latin typeface="Aptos"/>
              </a:rPr>
              <a:t>• Search listings</a:t>
            </a:r>
            <a:br/>
            <a:br/>
            <a:r>
              <a:rPr sz="1700" b="0">
                <a:solidFill>
                  <a:srgbClr val="233041"/>
                </a:solidFill>
                <a:latin typeface="Aptos"/>
              </a:rPr>
              <a:t>• View item details</a:t>
            </a:r>
            <a:br/>
            <a:br/>
            <a:r>
              <a:rPr sz="1700" b="0">
                <a:solidFill>
                  <a:srgbClr val="233041"/>
                </a:solidFill>
                <a:latin typeface="Aptos"/>
              </a:rPr>
              <a:t>• Contact the reporter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17320"/>
            <a:ext cx="338328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417320"/>
            <a:ext cx="82296" cy="4206240"/>
          </a:xfrm>
          <a:prstGeom prst="rect">
            <a:avLst/>
          </a:prstGeom>
          <a:solidFill>
            <a:srgbClr val="39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1581912"/>
            <a:ext cx="297180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000" b="1">
                <a:solidFill>
                  <a:srgbClr val="142B4A"/>
                </a:solidFill>
                <a:latin typeface="Aptos"/>
              </a:rPr>
              <a:t>Administrator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103120"/>
            <a:ext cx="2971800" cy="338327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700" b="0">
                <a:solidFill>
                  <a:srgbClr val="233041"/>
                </a:solidFill>
                <a:latin typeface="Aptos"/>
              </a:rPr>
              <a:t>• Review suspicious reports</a:t>
            </a:r>
            <a:br/>
            <a:br/>
            <a:r>
              <a:rPr sz="1700" b="0">
                <a:solidFill>
                  <a:srgbClr val="233041"/>
                </a:solidFill>
                <a:latin typeface="Aptos"/>
              </a:rPr>
              <a:t>• Remove duplicate or inappropriate posts</a:t>
            </a:r>
            <a:br/>
            <a:br/>
            <a:r>
              <a:rPr sz="1700" b="0">
                <a:solidFill>
                  <a:srgbClr val="233041"/>
                </a:solidFill>
                <a:latin typeface="Aptos"/>
              </a:rPr>
              <a:t>• Help verify ownership</a:t>
            </a:r>
            <a:br/>
            <a:br/>
            <a:r>
              <a:rPr sz="1700" b="0">
                <a:solidFill>
                  <a:srgbClr val="233041"/>
                </a:solidFill>
                <a:latin typeface="Aptos"/>
              </a:rPr>
              <a:t>• Update item status</a:t>
            </a:r>
            <a:br/>
            <a:br/>
            <a:r>
              <a:rPr sz="1700" b="0">
                <a:solidFill>
                  <a:srgbClr val="233041"/>
                </a:solidFill>
                <a:latin typeface="Aptos"/>
              </a:rPr>
              <a:t>• Maintain portal records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417320"/>
            <a:ext cx="338328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417320"/>
            <a:ext cx="82296" cy="4206240"/>
          </a:xfrm>
          <a:prstGeom prst="rect">
            <a:avLst/>
          </a:prstGeom>
          <a:solidFill>
            <a:srgbClr val="F4B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5320" y="1581912"/>
            <a:ext cx="297180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000" b="1">
                <a:solidFill>
                  <a:srgbClr val="142B4A"/>
                </a:solidFill>
                <a:latin typeface="Aptos"/>
              </a:rPr>
              <a:t>Core Data Fields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103120"/>
            <a:ext cx="2971800" cy="338327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700" b="0">
                <a:solidFill>
                  <a:srgbClr val="233041"/>
                </a:solidFill>
                <a:latin typeface="Aptos"/>
              </a:rPr>
              <a:t>• Item name and category</a:t>
            </a:r>
            <a:br/>
            <a:br/>
            <a:r>
              <a:rPr sz="1700" b="0">
                <a:solidFill>
                  <a:srgbClr val="233041"/>
                </a:solidFill>
                <a:latin typeface="Aptos"/>
              </a:rPr>
              <a:t>• Lost / found status</a:t>
            </a:r>
            <a:br/>
            <a:br/>
            <a:r>
              <a:rPr sz="1700" b="0">
                <a:solidFill>
                  <a:srgbClr val="233041"/>
                </a:solidFill>
                <a:latin typeface="Aptos"/>
              </a:rPr>
              <a:t>• Date and location</a:t>
            </a:r>
            <a:br/>
            <a:br/>
            <a:r>
              <a:rPr sz="1700" b="0">
                <a:solidFill>
                  <a:srgbClr val="233041"/>
                </a:solidFill>
                <a:latin typeface="Aptos"/>
              </a:rPr>
              <a:t>• Description or photo</a:t>
            </a:r>
            <a:br/>
            <a:br/>
            <a:r>
              <a:rPr sz="1700" b="0">
                <a:solidFill>
                  <a:srgbClr val="233041"/>
                </a:solidFill>
                <a:latin typeface="Aptos"/>
              </a:rPr>
              <a:t>• Secure contact method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900" b="1">
                <a:solidFill>
                  <a:srgbClr val="142B4A"/>
                </a:solidFill>
                <a:latin typeface="Aptos"/>
              </a:rPr>
              <a:t>05  |  How It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0120"/>
            <a:ext cx="777240" cy="64008"/>
          </a:xfrm>
          <a:prstGeom prst="rect">
            <a:avLst/>
          </a:prstGeom>
          <a:solidFill>
            <a:srgbClr val="24A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000" b="1">
                <a:solidFill>
                  <a:srgbClr val="5F6E80"/>
                </a:solidFill>
                <a:latin typeface="Aptos"/>
              </a:rPr>
              <a:t>06</a:t>
            </a:r>
          </a:p>
        </p:txBody>
      </p:sp>
      <p:sp>
        <p:nvSpPr>
          <p:cNvPr id="6" name="Oval 5"/>
          <p:cNvSpPr/>
          <p:nvPr/>
        </p:nvSpPr>
        <p:spPr>
          <a:xfrm>
            <a:off x="1069848" y="1645920"/>
            <a:ext cx="658368" cy="658368"/>
          </a:xfrm>
          <a:prstGeom prst="ellipse">
            <a:avLst/>
          </a:prstGeom>
          <a:solidFill>
            <a:srgbClr val="24A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9848" y="1792224"/>
            <a:ext cx="658368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560320"/>
            <a:ext cx="1874519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2560320"/>
            <a:ext cx="82296" cy="2057400"/>
          </a:xfrm>
          <a:prstGeom prst="rect">
            <a:avLst/>
          </a:prstGeom>
          <a:solidFill>
            <a:srgbClr val="24A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724912"/>
            <a:ext cx="1463039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00" b="1">
                <a:solidFill>
                  <a:srgbClr val="142B4A"/>
                </a:solidFill>
                <a:latin typeface="Aptos"/>
              </a:rPr>
              <a:t>Submit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46120"/>
            <a:ext cx="1463039" cy="12344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0">
                <a:solidFill>
                  <a:srgbClr val="233041"/>
                </a:solidFill>
                <a:latin typeface="Aptos"/>
              </a:rPr>
              <a:t>User reports an item as lost or found.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39" y="1828800"/>
            <a:ext cx="41148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2400" b="1">
                <a:solidFill>
                  <a:srgbClr val="142B4A"/>
                </a:solidFill>
                <a:latin typeface="Aptos"/>
              </a:rPr>
              <a:t>→</a:t>
            </a:r>
          </a:p>
        </p:txBody>
      </p:sp>
      <p:sp>
        <p:nvSpPr>
          <p:cNvPr id="13" name="Oval 12"/>
          <p:cNvSpPr/>
          <p:nvPr/>
        </p:nvSpPr>
        <p:spPr>
          <a:xfrm>
            <a:off x="3429000" y="1645920"/>
            <a:ext cx="658368" cy="658368"/>
          </a:xfrm>
          <a:prstGeom prst="ellipse">
            <a:avLst/>
          </a:prstGeom>
          <a:solidFill>
            <a:srgbClr val="39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29000" y="1792224"/>
            <a:ext cx="658368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62072" y="2560320"/>
            <a:ext cx="1874519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862072" y="2560320"/>
            <a:ext cx="82296" cy="2057400"/>
          </a:xfrm>
          <a:prstGeom prst="rect">
            <a:avLst/>
          </a:prstGeom>
          <a:solidFill>
            <a:srgbClr val="39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090672" y="2724912"/>
            <a:ext cx="1463039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00" b="1">
                <a:solidFill>
                  <a:srgbClr val="142B4A"/>
                </a:solidFill>
                <a:latin typeface="Aptos"/>
              </a:rPr>
              <a:t>Publish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90672" y="3246120"/>
            <a:ext cx="1463039" cy="12344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0">
                <a:solidFill>
                  <a:srgbClr val="233041"/>
                </a:solidFill>
                <a:latin typeface="Aptos"/>
              </a:rPr>
              <a:t>Portal stores the report and displays 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36592" y="1828800"/>
            <a:ext cx="41148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2400" b="1">
                <a:solidFill>
                  <a:srgbClr val="142B4A"/>
                </a:solidFill>
                <a:latin typeface="Aptos"/>
              </a:rPr>
              <a:t>→</a:t>
            </a:r>
          </a:p>
        </p:txBody>
      </p:sp>
      <p:sp>
        <p:nvSpPr>
          <p:cNvPr id="20" name="Oval 19"/>
          <p:cNvSpPr/>
          <p:nvPr/>
        </p:nvSpPr>
        <p:spPr>
          <a:xfrm>
            <a:off x="5788152" y="1645920"/>
            <a:ext cx="658368" cy="658368"/>
          </a:xfrm>
          <a:prstGeom prst="ellipse">
            <a:avLst/>
          </a:prstGeom>
          <a:solidFill>
            <a:srgbClr val="F4B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788152" y="1792224"/>
            <a:ext cx="658368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21224" y="2560320"/>
            <a:ext cx="1874519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221224" y="2560320"/>
            <a:ext cx="82296" cy="2057400"/>
          </a:xfrm>
          <a:prstGeom prst="rect">
            <a:avLst/>
          </a:prstGeom>
          <a:solidFill>
            <a:srgbClr val="F4B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49824" y="2724912"/>
            <a:ext cx="1463039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00" b="1">
                <a:solidFill>
                  <a:srgbClr val="142B4A"/>
                </a:solidFill>
                <a:latin typeface="Aptos"/>
              </a:rPr>
              <a:t>Search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49824" y="3246120"/>
            <a:ext cx="1463039" cy="12344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0">
                <a:solidFill>
                  <a:srgbClr val="233041"/>
                </a:solidFill>
                <a:latin typeface="Aptos"/>
              </a:rPr>
              <a:t>Users search or filter available reports.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95744" y="1828800"/>
            <a:ext cx="41148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2400" b="1">
                <a:solidFill>
                  <a:srgbClr val="142B4A"/>
                </a:solidFill>
                <a:latin typeface="Aptos"/>
              </a:rPr>
              <a:t>→</a:t>
            </a:r>
          </a:p>
        </p:txBody>
      </p:sp>
      <p:sp>
        <p:nvSpPr>
          <p:cNvPr id="27" name="Oval 26"/>
          <p:cNvSpPr/>
          <p:nvPr/>
        </p:nvSpPr>
        <p:spPr>
          <a:xfrm>
            <a:off x="8147304" y="1645920"/>
            <a:ext cx="658368" cy="658368"/>
          </a:xfrm>
          <a:prstGeom prst="ellipse">
            <a:avLst/>
          </a:prstGeom>
          <a:solidFill>
            <a:srgbClr val="E46A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47304" y="1792224"/>
            <a:ext cx="658368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80376" y="2560320"/>
            <a:ext cx="1874519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580376" y="2560320"/>
            <a:ext cx="82296" cy="2057400"/>
          </a:xfrm>
          <a:prstGeom prst="rect">
            <a:avLst/>
          </a:prstGeom>
          <a:solidFill>
            <a:srgbClr val="E46A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808976" y="2724912"/>
            <a:ext cx="1463039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00" b="1">
                <a:solidFill>
                  <a:srgbClr val="142B4A"/>
                </a:solidFill>
                <a:latin typeface="Aptos"/>
              </a:rPr>
              <a:t>Connect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08976" y="3246120"/>
            <a:ext cx="1463039" cy="12344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0">
                <a:solidFill>
                  <a:srgbClr val="233041"/>
                </a:solidFill>
                <a:latin typeface="Aptos"/>
              </a:rPr>
              <a:t>Owner and finder coordinate safely.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54896" y="1828800"/>
            <a:ext cx="41148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2400" b="1">
                <a:solidFill>
                  <a:srgbClr val="142B4A"/>
                </a:solidFill>
                <a:latin typeface="Aptos"/>
              </a:rPr>
              <a:t>→</a:t>
            </a:r>
          </a:p>
        </p:txBody>
      </p:sp>
      <p:sp>
        <p:nvSpPr>
          <p:cNvPr id="34" name="Oval 33"/>
          <p:cNvSpPr/>
          <p:nvPr/>
        </p:nvSpPr>
        <p:spPr>
          <a:xfrm>
            <a:off x="10506456" y="1645920"/>
            <a:ext cx="658368" cy="658368"/>
          </a:xfrm>
          <a:prstGeom prst="ellipse">
            <a:avLst/>
          </a:prstGeom>
          <a:solidFill>
            <a:srgbClr val="24A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506456" y="1792224"/>
            <a:ext cx="658368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939528" y="2560320"/>
            <a:ext cx="1874519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939528" y="2560320"/>
            <a:ext cx="82296" cy="2057400"/>
          </a:xfrm>
          <a:prstGeom prst="rect">
            <a:avLst/>
          </a:prstGeom>
          <a:solidFill>
            <a:srgbClr val="24A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168128" y="2724912"/>
            <a:ext cx="1463039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00" b="1">
                <a:solidFill>
                  <a:srgbClr val="142B4A"/>
                </a:solidFill>
                <a:latin typeface="Aptos"/>
              </a:rPr>
              <a:t>Return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68128" y="3246120"/>
            <a:ext cx="1463039" cy="12344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0">
                <a:solidFill>
                  <a:srgbClr val="233041"/>
                </a:solidFill>
                <a:latin typeface="Aptos"/>
              </a:rPr>
              <a:t>Item is verified and marked returned.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5257800"/>
            <a:ext cx="1051560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800" b="1">
                <a:solidFill>
                  <a:srgbClr val="142B4A"/>
                </a:solidFill>
                <a:latin typeface="Aptos"/>
              </a:rPr>
              <a:t>Important: verify ownership before handing over valuable items.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900" b="1">
                <a:solidFill>
                  <a:srgbClr val="142B4A"/>
                </a:solidFill>
                <a:latin typeface="Aptos"/>
              </a:rPr>
              <a:t>07  |  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0120"/>
            <a:ext cx="777240" cy="64008"/>
          </a:xfrm>
          <a:prstGeom prst="rect">
            <a:avLst/>
          </a:prstGeom>
          <a:solidFill>
            <a:srgbClr val="24A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000" b="1">
                <a:solidFill>
                  <a:srgbClr val="5F6E80"/>
                </a:solidFill>
                <a:latin typeface="Apto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325880"/>
            <a:ext cx="104241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68680" y="1325880"/>
            <a:ext cx="82296" cy="914400"/>
          </a:xfrm>
          <a:prstGeom prst="rect">
            <a:avLst/>
          </a:prstGeom>
          <a:solidFill>
            <a:srgbClr val="24A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1490472"/>
            <a:ext cx="1001268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700" b="1">
                <a:solidFill>
                  <a:srgbClr val="142B4A"/>
                </a:solidFill>
                <a:latin typeface="Aptos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011680"/>
            <a:ext cx="10012680" cy="9143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0">
                <a:solidFill>
                  <a:srgbClr val="233041"/>
                </a:solidFill>
                <a:latin typeface="Aptos"/>
              </a:rPr>
              <a:t>HTML, CSS, JavaScript  —  Responsive pages, forms, and search UI.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496312"/>
            <a:ext cx="104241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68680" y="2496312"/>
            <a:ext cx="82296" cy="914400"/>
          </a:xfrm>
          <a:prstGeom prst="rect">
            <a:avLst/>
          </a:prstGeom>
          <a:solidFill>
            <a:srgbClr val="39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2660904"/>
            <a:ext cx="1001268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700" b="1">
                <a:solidFill>
                  <a:srgbClr val="142B4A"/>
                </a:solidFill>
                <a:latin typeface="Aptos"/>
              </a:rP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182112"/>
            <a:ext cx="10012680" cy="9143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0">
                <a:solidFill>
                  <a:srgbClr val="233041"/>
                </a:solidFill>
                <a:latin typeface="Aptos"/>
              </a:rPr>
              <a:t>Python Flask / Node.js  —  Validates input and manages application logic.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666744"/>
            <a:ext cx="104241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68680" y="3666744"/>
            <a:ext cx="82296" cy="914400"/>
          </a:xfrm>
          <a:prstGeom prst="rect">
            <a:avLst/>
          </a:prstGeom>
          <a:solidFill>
            <a:srgbClr val="F4B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97280" y="3831335"/>
            <a:ext cx="1001268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700" b="1">
                <a:solidFill>
                  <a:srgbClr val="142B4A"/>
                </a:solidFill>
                <a:latin typeface="Aptos"/>
              </a:rPr>
              <a:t>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352544"/>
            <a:ext cx="10012680" cy="9143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0">
                <a:solidFill>
                  <a:srgbClr val="233041"/>
                </a:solidFill>
                <a:latin typeface="Aptos"/>
              </a:rPr>
              <a:t>MySQL  —  Stores users, reports, categories, and status.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4837176"/>
            <a:ext cx="104241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68680" y="4837176"/>
            <a:ext cx="82296" cy="914400"/>
          </a:xfrm>
          <a:prstGeom prst="rect">
            <a:avLst/>
          </a:prstGeom>
          <a:solidFill>
            <a:srgbClr val="E46A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97280" y="5001768"/>
            <a:ext cx="1001268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700" b="1">
                <a:solidFill>
                  <a:srgbClr val="142B4A"/>
                </a:solidFill>
                <a:latin typeface="Aptos"/>
              </a:rPr>
              <a:t>Deployment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522976"/>
            <a:ext cx="10012680" cy="9143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0">
                <a:solidFill>
                  <a:srgbClr val="233041"/>
                </a:solidFill>
                <a:latin typeface="Aptos"/>
              </a:rPr>
              <a:t>College server / cloud host  —  Makes the portal accessible to authorized users.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900" b="1">
                <a:solidFill>
                  <a:srgbClr val="142B4A"/>
                </a:solidFill>
                <a:latin typeface="Aptos"/>
              </a:rPr>
              <a:t>08  |  Basic Database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0120"/>
            <a:ext cx="777240" cy="64008"/>
          </a:xfrm>
          <a:prstGeom prst="rect">
            <a:avLst/>
          </a:prstGeom>
          <a:solidFill>
            <a:srgbClr val="24A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000" b="1">
                <a:solidFill>
                  <a:srgbClr val="5F6E80"/>
                </a:solidFill>
                <a:latin typeface="Aptos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4290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82296" cy="3474720"/>
          </a:xfrm>
          <a:prstGeom prst="rect">
            <a:avLst/>
          </a:prstGeom>
          <a:solidFill>
            <a:srgbClr val="24A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581912"/>
            <a:ext cx="301752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000" b="1">
                <a:solidFill>
                  <a:srgbClr val="142B4A"/>
                </a:solidFill>
                <a:latin typeface="Aptos"/>
              </a:rPr>
              <a:t>USERS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03120"/>
            <a:ext cx="3017520" cy="2651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700" b="0">
                <a:solidFill>
                  <a:srgbClr val="233041"/>
                </a:solidFill>
                <a:latin typeface="Aptos"/>
              </a:rPr>
              <a:t>user_id (PK)</a:t>
            </a:r>
            <a:br/>
            <a:r>
              <a:rPr sz="1700" b="0">
                <a:solidFill>
                  <a:srgbClr val="233041"/>
                </a:solidFill>
                <a:latin typeface="Aptos"/>
              </a:rPr>
              <a:t>name</a:t>
            </a:r>
            <a:br/>
            <a:r>
              <a:rPr sz="1700" b="0">
                <a:solidFill>
                  <a:srgbClr val="233041"/>
                </a:solidFill>
                <a:latin typeface="Aptos"/>
              </a:rPr>
              <a:t>college_email</a:t>
            </a:r>
            <a:br/>
            <a:r>
              <a:rPr sz="1700" b="0">
                <a:solidFill>
                  <a:srgbClr val="233041"/>
                </a:solidFill>
                <a:latin typeface="Aptos"/>
              </a:rPr>
              <a:t>role</a:t>
            </a:r>
            <a:br/>
            <a:r>
              <a:rPr sz="1700" b="0">
                <a:solidFill>
                  <a:srgbClr val="233041"/>
                </a:solidFill>
                <a:latin typeface="Aptos"/>
              </a:rPr>
              <a:t>password_hash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17320"/>
            <a:ext cx="34290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417320"/>
            <a:ext cx="82296" cy="3474720"/>
          </a:xfrm>
          <a:prstGeom prst="rect">
            <a:avLst/>
          </a:prstGeom>
          <a:solidFill>
            <a:srgbClr val="39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1581912"/>
            <a:ext cx="301752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000" b="1">
                <a:solidFill>
                  <a:srgbClr val="142B4A"/>
                </a:solidFill>
                <a:latin typeface="Aptos"/>
              </a:rPr>
              <a:t>ITEM_REPORTS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103120"/>
            <a:ext cx="3017520" cy="2651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600" b="0">
                <a:solidFill>
                  <a:srgbClr val="233041"/>
                </a:solidFill>
                <a:latin typeface="Aptos"/>
              </a:rPr>
              <a:t>report_id (PK)</a:t>
            </a:r>
            <a:br/>
            <a:r>
              <a:rPr sz="1600" b="0">
                <a:solidFill>
                  <a:srgbClr val="233041"/>
                </a:solidFill>
                <a:latin typeface="Aptos"/>
              </a:rPr>
              <a:t>user_id (FK)</a:t>
            </a:r>
            <a:br/>
            <a:r>
              <a:rPr sz="1600" b="0">
                <a:solidFill>
                  <a:srgbClr val="233041"/>
                </a:solidFill>
                <a:latin typeface="Aptos"/>
              </a:rPr>
              <a:t>item_name</a:t>
            </a:r>
            <a:br/>
            <a:r>
              <a:rPr sz="1600" b="0">
                <a:solidFill>
                  <a:srgbClr val="233041"/>
                </a:solidFill>
                <a:latin typeface="Aptos"/>
              </a:rPr>
              <a:t>category</a:t>
            </a:r>
            <a:br/>
            <a:r>
              <a:rPr sz="1600" b="0">
                <a:solidFill>
                  <a:srgbClr val="233041"/>
                </a:solidFill>
                <a:latin typeface="Aptos"/>
              </a:rPr>
              <a:t>report_type</a:t>
            </a:r>
            <a:br/>
            <a:r>
              <a:rPr sz="1600" b="0">
                <a:solidFill>
                  <a:srgbClr val="233041"/>
                </a:solidFill>
                <a:latin typeface="Aptos"/>
              </a:rPr>
              <a:t>location</a:t>
            </a:r>
            <a:br/>
            <a:r>
              <a:rPr sz="1600" b="0">
                <a:solidFill>
                  <a:srgbClr val="233041"/>
                </a:solidFill>
                <a:latin typeface="Aptos"/>
              </a:rPr>
              <a:t>created_at</a:t>
            </a:r>
            <a:br/>
            <a:r>
              <a:rPr sz="1600" b="0">
                <a:solidFill>
                  <a:srgbClr val="233041"/>
                </a:solidFill>
                <a:latin typeface="Aptos"/>
              </a:rPr>
              <a:t>status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417320"/>
            <a:ext cx="34290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417320"/>
            <a:ext cx="82296" cy="3474720"/>
          </a:xfrm>
          <a:prstGeom prst="rect">
            <a:avLst/>
          </a:prstGeom>
          <a:solidFill>
            <a:srgbClr val="F4B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5320" y="1581912"/>
            <a:ext cx="301752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000" b="1">
                <a:solidFill>
                  <a:srgbClr val="142B4A"/>
                </a:solidFill>
                <a:latin typeface="Aptos"/>
              </a:rPr>
              <a:t>CLAIMS / UPDATES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103120"/>
            <a:ext cx="3017520" cy="2651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600" b="0">
                <a:solidFill>
                  <a:srgbClr val="233041"/>
                </a:solidFill>
                <a:latin typeface="Aptos"/>
              </a:rPr>
              <a:t>claim_id (PK)</a:t>
            </a:r>
            <a:br/>
            <a:r>
              <a:rPr sz="1600" b="0">
                <a:solidFill>
                  <a:srgbClr val="233041"/>
                </a:solidFill>
                <a:latin typeface="Aptos"/>
              </a:rPr>
              <a:t>report_id (FK)</a:t>
            </a:r>
            <a:br/>
            <a:r>
              <a:rPr sz="1600" b="0">
                <a:solidFill>
                  <a:srgbClr val="233041"/>
                </a:solidFill>
                <a:latin typeface="Aptos"/>
              </a:rPr>
              <a:t>claimant_id (FK)</a:t>
            </a:r>
            <a:br/>
            <a:r>
              <a:rPr sz="1600" b="0">
                <a:solidFill>
                  <a:srgbClr val="233041"/>
                </a:solidFill>
                <a:latin typeface="Aptos"/>
              </a:rPr>
              <a:t>claim_status</a:t>
            </a:r>
            <a:br/>
            <a:r>
              <a:rPr sz="1600" b="0">
                <a:solidFill>
                  <a:srgbClr val="233041"/>
                </a:solidFill>
                <a:latin typeface="Aptos"/>
              </a:rPr>
              <a:t>updated_at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349240"/>
            <a:ext cx="1033272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500" b="1">
                <a:solidFill>
                  <a:srgbClr val="5F6E80"/>
                </a:solidFill>
                <a:latin typeface="Aptos"/>
              </a:rPr>
              <a:t>PK = Primary Key     FK = Foreign Key     Store passwords as secure hashes, never as plain text.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900" b="1">
                <a:solidFill>
                  <a:srgbClr val="142B4A"/>
                </a:solidFill>
                <a:latin typeface="Aptos"/>
              </a:rPr>
              <a:t>09  |  Security &amp; Responsible Use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0120"/>
            <a:ext cx="777240" cy="64008"/>
          </a:xfrm>
          <a:prstGeom prst="rect">
            <a:avLst/>
          </a:prstGeom>
          <a:solidFill>
            <a:srgbClr val="24A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000" b="1">
                <a:solidFill>
                  <a:srgbClr val="5F6E80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2120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82296" cy="3566160"/>
          </a:xfrm>
          <a:prstGeom prst="rect">
            <a:avLst/>
          </a:prstGeom>
          <a:solidFill>
            <a:srgbClr val="24A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581912"/>
            <a:ext cx="480060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000" b="1">
                <a:solidFill>
                  <a:srgbClr val="142B4A"/>
                </a:solidFill>
                <a:latin typeface="Aptos"/>
              </a:rPr>
              <a:t>Security measures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03120"/>
            <a:ext cx="4800600" cy="2743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700" b="0">
                <a:solidFill>
                  <a:srgbClr val="233041"/>
                </a:solidFill>
                <a:latin typeface="Aptos"/>
              </a:rPr>
              <a:t>• College email verification</a:t>
            </a:r>
            <a:br/>
            <a:br/>
            <a:r>
              <a:rPr sz="1700" b="0">
                <a:solidFill>
                  <a:srgbClr val="233041"/>
                </a:solidFill>
                <a:latin typeface="Aptos"/>
              </a:rPr>
              <a:t>• Validate form inputs</a:t>
            </a:r>
            <a:br/>
            <a:br/>
            <a:r>
              <a:rPr sz="1700" b="0">
                <a:solidFill>
                  <a:srgbClr val="233041"/>
                </a:solidFill>
                <a:latin typeface="Aptos"/>
              </a:rPr>
              <a:t>• Restrict admin functions</a:t>
            </a:r>
            <a:br/>
            <a:br/>
            <a:r>
              <a:rPr sz="1700" b="0">
                <a:solidFill>
                  <a:srgbClr val="233041"/>
                </a:solidFill>
                <a:latin typeface="Aptos"/>
              </a:rPr>
              <a:t>• Protect contact details</a:t>
            </a:r>
            <a:br/>
            <a:br/>
            <a:r>
              <a:rPr sz="1700" b="0">
                <a:solidFill>
                  <a:srgbClr val="233041"/>
                </a:solidFill>
                <a:latin typeface="Aptos"/>
              </a:rPr>
              <a:t>• Use secure password hashing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17320"/>
            <a:ext cx="52120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E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417320"/>
            <a:ext cx="82296" cy="3566160"/>
          </a:xfrm>
          <a:prstGeom prst="rect">
            <a:avLst/>
          </a:prstGeom>
          <a:solidFill>
            <a:srgbClr val="E46A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581912"/>
            <a:ext cx="480060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000" b="1">
                <a:solidFill>
                  <a:srgbClr val="142B4A"/>
                </a:solidFill>
                <a:latin typeface="Aptos"/>
              </a:rPr>
              <a:t>Safe recovery practices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103120"/>
            <a:ext cx="4800600" cy="2743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700" b="0">
                <a:solidFill>
                  <a:srgbClr val="233041"/>
                </a:solidFill>
                <a:latin typeface="Aptos"/>
              </a:rPr>
              <a:t>• Do not publish sensitive ID details</a:t>
            </a:r>
            <a:br/>
            <a:br/>
            <a:r>
              <a:rPr sz="1700" b="0">
                <a:solidFill>
                  <a:srgbClr val="233041"/>
                </a:solidFill>
                <a:latin typeface="Aptos"/>
              </a:rPr>
              <a:t>• Ask claimants to describe the item</a:t>
            </a:r>
            <a:br/>
            <a:br/>
            <a:r>
              <a:rPr sz="1700" b="0">
                <a:solidFill>
                  <a:srgbClr val="233041"/>
                </a:solidFill>
                <a:latin typeface="Aptos"/>
              </a:rPr>
              <a:t>• Arrange handover at a campus help desk</a:t>
            </a:r>
            <a:br/>
            <a:br/>
            <a:r>
              <a:rPr sz="1700" b="0">
                <a:solidFill>
                  <a:srgbClr val="233041"/>
                </a:solidFill>
                <a:latin typeface="Aptos"/>
              </a:rPr>
              <a:t>• Report suspicious activity</a:t>
            </a:r>
            <a:br/>
            <a:br/>
            <a:r>
              <a:rPr sz="1700" b="0">
                <a:solidFill>
                  <a:srgbClr val="233041"/>
                </a:solidFill>
                <a:latin typeface="Aptos"/>
              </a:rPr>
              <a:t>• Keep audit records for changes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532120"/>
            <a:ext cx="1042416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400" b="0">
                <a:solidFill>
                  <a:srgbClr val="5F6E80"/>
                </a:solidFill>
                <a:latin typeface="Aptos"/>
              </a:rPr>
              <a:t>Prototype note: the demo is not a live service; production use requires secure backend implementation.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685800"/>
            <a:ext cx="105156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400" b="1">
                <a:solidFill>
                  <a:srgbClr val="24A68F"/>
                </a:solidFill>
                <a:latin typeface="Aptos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508760"/>
            <a:ext cx="9966960" cy="10972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ptos"/>
              </a:rPr>
              <a:t>A small portal can make a big difference.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88920"/>
            <a:ext cx="8503920" cy="10515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2000" b="0">
                <a:solidFill>
                  <a:srgbClr val="DCE8F4"/>
                </a:solidFill>
                <a:latin typeface="Aptos"/>
              </a:rPr>
              <a:t>The Campus Lost &amp; Found Portal offers a practical way to report, search, and recover belongings. With secure handling and a clear workflow, it can make campus life more organized and helpful.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40280" y="4800600"/>
            <a:ext cx="2286000" cy="640080"/>
          </a:xfrm>
          <a:prstGeom prst="roundRect">
            <a:avLst/>
          </a:prstGeom>
          <a:solidFill>
            <a:srgbClr val="24A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40280" y="5001768"/>
            <a:ext cx="22860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REPORT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4800600"/>
            <a:ext cx="2286000" cy="640080"/>
          </a:xfrm>
          <a:prstGeom prst="roundRect">
            <a:avLst/>
          </a:prstGeom>
          <a:solidFill>
            <a:srgbClr val="F4B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92040" y="5001768"/>
            <a:ext cx="22860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SEARCH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4800600"/>
            <a:ext cx="2286000" cy="640080"/>
          </a:xfrm>
          <a:prstGeom prst="roundRect">
            <a:avLst/>
          </a:prstGeom>
          <a:solidFill>
            <a:srgbClr val="E46A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43800" y="5001768"/>
            <a:ext cx="22860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RECOVER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B735B5-210C-FB0A-A924-EB06B5D8151B}"/>
              </a:ext>
            </a:extLst>
          </p:cNvPr>
          <p:cNvSpPr txBox="1"/>
          <p:nvPr/>
        </p:nvSpPr>
        <p:spPr>
          <a:xfrm>
            <a:off x="2785533" y="2946400"/>
            <a:ext cx="618066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6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916656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691</Words>
  <Application>Microsoft Office PowerPoint</Application>
  <PresentationFormat>Widescreen</PresentationFormat>
  <Paragraphs>92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ARAVIND STOKESY 76</dc:creator>
  <cp:keywords/>
  <dc:description>generated using python-pptx</dc:description>
  <cp:lastModifiedBy>ARAVIND STOKESY 76</cp:lastModifiedBy>
  <cp:revision>2</cp:revision>
  <dcterms:created xsi:type="dcterms:W3CDTF">2013-01-27T09:14:16Z</dcterms:created>
  <dcterms:modified xsi:type="dcterms:W3CDTF">2026-10-10T05:07:26Z</dcterms:modified>
  <cp:category/>
</cp:coreProperties>
</file>